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96" r:id="rId2"/>
    <p:sldId id="698" r:id="rId3"/>
    <p:sldId id="697" r:id="rId4"/>
    <p:sldId id="69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60"/>
    <p:restoredTop sz="96327"/>
  </p:normalViewPr>
  <p:slideViewPr>
    <p:cSldViewPr snapToGrid="0" snapToObjects="1">
      <p:cViewPr varScale="1">
        <p:scale>
          <a:sx n="97" d="100"/>
          <a:sy n="97" d="100"/>
        </p:scale>
        <p:origin x="24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AC86-A331-FF43-B31A-DC0CC89CD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1ECA8-91B6-A34C-845D-7B2809EE4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7E3BE-2964-4049-81D4-2BE176FD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26C83-2207-A44A-89ED-CE9E57EB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31C3B-4765-2141-AC17-9FD76DD1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488D-BCAE-D549-8BB3-976843FB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AC17B-C7B8-5043-8D42-62F881AE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CEB38-A4E6-5442-88FF-FEFF0FE2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C352-91AD-AD40-967B-636A61C2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3F57-A431-4B4D-A08E-9D366126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4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8DB1-34FC-1B46-966B-6174A5DF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D2188-ACBA-114D-A4B6-98AE188C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E058D-7EAE-9E44-8CEF-B08083CD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2F352-E808-FD4C-A2FB-A6F57924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A13AA-6F89-9C4E-88B6-28585771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65DE-65C9-454B-ADA6-1260B6ED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BD04-F57D-5C4F-9085-58D689A4E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86BE2-9B30-D147-AA54-32C6EC1C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0D890-8E59-9A4E-AD61-54FC7D5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DFD96-E95C-904A-BFF9-C5D287A7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B4FBC-6022-0946-8F4F-5E785CA2F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70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A583-DE5F-E546-B5CD-FF4F1543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88416-38E2-2948-9FE9-C9383DF81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DD8AF-1069-1040-8E00-C8BE5C9D7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B0E24-0DC9-6F49-8B79-BF6E62CE8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AC9C6-D1D1-2745-B3F2-EE4C48FC5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44BC3-960D-704F-BC2B-6A5E09BA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6D757-AA38-D74A-9B4A-2FECDE41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3F12E-CE50-7944-9A16-FB3154E6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6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B911-63BA-CF4C-8E2E-AD1EC05F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414BC-23D7-8140-BB6C-FAE9AD50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615DD-D009-FE4E-8B79-46598C81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DF7FB-365E-2443-9FE6-F71B3ACD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4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6E319-5D6E-E045-A298-82E95F8F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9EE48-F267-F34B-8EF2-925C79E0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CD57-AF18-B44D-8B8D-FA79B14E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2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3F43-AEAC-CD47-A979-F33BD56A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13B36-D08F-B74B-B836-467DCA872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76A89-E143-B24B-A394-EE27DEDB7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230EE-91CE-8C49-B888-48046C552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8FED7-B6DE-3940-8F28-698CCB13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2A144-BD59-AF43-B0E7-676E352F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3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C2ED-BA56-124D-B518-3BE9E271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623A2-B273-6D4B-A3F5-B6E52EA08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36922-5923-5642-88CA-AC27CFD0E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C966B-249B-4C44-90E8-3B9E4760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5860F-A5BD-664A-B8F6-EFA7032D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1439E-A0A2-7C4A-87C3-C65097E9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3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ABCB-541D-D745-90E0-A1A950B1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D17CC-5BAF-B648-B600-84CBE24EB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4E38-29DC-DA41-BBE2-44506A76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5A107-CFC2-6F46-B02E-59AB2BC1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1AB18-F768-1446-8353-F4A3AE28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7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67D74-FDAC-EE44-A7E1-0AE2BD5DB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375CF-8696-A74C-9B09-DD07E84EB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7A582-6D97-E74D-8CD8-F5EFC3A3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05F97-ADC5-8E46-BD35-B36A1459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6F92-9D27-CF46-B399-4F100CF3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8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0E3DB-3C9B-F940-AB68-6D5FE225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0F6DF-7114-2842-A096-36A3C8E18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B6B-DB17-5544-9DB2-8027ED930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AF1D4-8443-3F43-8EEB-15CEC657EC2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4B1C2-70D1-DD47-8CE2-8799135D9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F1615-1507-654B-AE2B-13FEAD59E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799BA-ED70-6240-A558-76998A771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2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CC95B92-2666-7D4D-96A7-2A4F38407CEA}"/>
              </a:ext>
            </a:extLst>
          </p:cNvPr>
          <p:cNvGrpSpPr/>
          <p:nvPr/>
        </p:nvGrpSpPr>
        <p:grpSpPr>
          <a:xfrm>
            <a:off x="0" y="0"/>
            <a:ext cx="12192000" cy="747433"/>
            <a:chOff x="0" y="0"/>
            <a:chExt cx="12192000" cy="747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543DA1-4DFD-214F-BEBE-B08B8D8B073A}"/>
                </a:ext>
              </a:extLst>
            </p:cNvPr>
            <p:cNvSpPr/>
            <p:nvPr/>
          </p:nvSpPr>
          <p:spPr>
            <a:xfrm>
              <a:off x="0" y="0"/>
              <a:ext cx="12192000" cy="747433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819513-6DB0-B948-A9D8-4F3D31AA5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60" y="14646"/>
              <a:ext cx="640080" cy="718139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E729A-7E71-D143-AC25-61C80124C548}"/>
              </a:ext>
            </a:extLst>
          </p:cNvPr>
          <p:cNvSpPr/>
          <p:nvPr/>
        </p:nvSpPr>
        <p:spPr>
          <a:xfrm>
            <a:off x="10060" y="6347790"/>
            <a:ext cx="12192000" cy="5303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BA6E509-92EE-9D48-AEF2-C4942F22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070" y="6449114"/>
            <a:ext cx="2743200" cy="365125"/>
          </a:xfrm>
        </p:spPr>
        <p:txBody>
          <a:bodyPr/>
          <a:lstStyle/>
          <a:p>
            <a:fld id="{B630394E-6C0C-3847-9ED2-B466E2E401F2}" type="datetime1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10/15/25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6679DC-8CC1-EC44-8330-0174B876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5485" y="6449114"/>
            <a:ext cx="2743200" cy="365125"/>
          </a:xfrm>
        </p:spPr>
        <p:txBody>
          <a:bodyPr/>
          <a:lstStyle/>
          <a:p>
            <a:fld id="{FB56AA37-50AF-F349-93FC-3CB01B742E20}" type="slidenum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642AF-9AAD-C946-BA0C-2B599D8523BB}"/>
              </a:ext>
            </a:extLst>
          </p:cNvPr>
          <p:cNvSpPr txBox="1"/>
          <p:nvPr/>
        </p:nvSpPr>
        <p:spPr>
          <a:xfrm>
            <a:off x="1041452" y="119013"/>
            <a:ext cx="10586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Subtask: STO characterization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417DD4-82AE-724F-8A9E-2864E366A989}"/>
              </a:ext>
            </a:extLst>
          </p:cNvPr>
          <p:cNvSpPr txBox="1"/>
          <p:nvPr/>
        </p:nvSpPr>
        <p:spPr>
          <a:xfrm>
            <a:off x="43070" y="988725"/>
            <a:ext cx="94138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an AI model to automatically recognize surface reconstruction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Collection</a:t>
            </a:r>
            <a:r>
              <a:rPr lang="en-US" dirty="0"/>
              <a:t>: Gather and label RHEED images corresponding to known reconstructions such as (1×1), (2×1), (√13×√13), c(6×2),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Training</a:t>
            </a:r>
            <a:r>
              <a:rPr lang="en-US" dirty="0"/>
              <a:t>: Use machine learning to learn distinguishing features of each reconstruction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Inference Output</a:t>
            </a:r>
            <a:r>
              <a:rPr lang="en-US" dirty="0"/>
              <a:t>: For any given RHEED image, the trained model outputs a reconstruction classification — for example: 46 % (1×1) + 54 % (√13×√13)</a:t>
            </a:r>
          </a:p>
          <a:p>
            <a:pPr marL="342900" indent="-342900">
              <a:buAutoNum type="arabicPeriod"/>
            </a:pPr>
            <a:endParaRPr lang="en-US" b="1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2FA9C5-C5E3-0545-8D5D-363E9F779EE6}"/>
              </a:ext>
            </a:extLst>
          </p:cNvPr>
          <p:cNvSpPr txBox="1"/>
          <p:nvPr/>
        </p:nvSpPr>
        <p:spPr>
          <a:xfrm>
            <a:off x="0" y="3560951"/>
            <a:ext cx="9413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Develop an AI model that recommends treatment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Collection</a:t>
            </a:r>
            <a:r>
              <a:rPr lang="en-US" dirty="0"/>
              <a:t>: Compile a dataset linking each RHEED image and its identified reconstruction (Result of </a:t>
            </a:r>
            <a:r>
              <a:rPr lang="en-US" b="1" dirty="0"/>
              <a:t>1</a:t>
            </a:r>
            <a:r>
              <a:rPr lang="en-US" dirty="0"/>
              <a:t>) to the corresponding substrate treatment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Training</a:t>
            </a:r>
            <a:r>
              <a:rPr lang="en-US" dirty="0"/>
              <a:t>: Use regression or generative models to learn the relationship between reconstruction types and treatment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Inference Output</a:t>
            </a:r>
            <a:r>
              <a:rPr lang="en-US" dirty="0"/>
              <a:t>: Given a target reconstruction (e.g., (√13×√13)), the model suggests a recommended annealing recipe, such as: Temperature = 1000 °C, Ramp Rate = 10 °C/min, Annealing Time = 30 min. </a:t>
            </a:r>
          </a:p>
        </p:txBody>
      </p:sp>
    </p:spTree>
    <p:extLst>
      <p:ext uri="{BB962C8B-B14F-4D97-AF65-F5344CB8AC3E}">
        <p14:creationId xmlns:p14="http://schemas.microsoft.com/office/powerpoint/2010/main" val="1714008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63F3-9583-FC47-2383-33F22308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E2DF32-AA9E-72D9-500B-60CA3BE60DAE}"/>
              </a:ext>
            </a:extLst>
          </p:cNvPr>
          <p:cNvGrpSpPr/>
          <p:nvPr/>
        </p:nvGrpSpPr>
        <p:grpSpPr>
          <a:xfrm>
            <a:off x="0" y="0"/>
            <a:ext cx="12192000" cy="747433"/>
            <a:chOff x="0" y="0"/>
            <a:chExt cx="12192000" cy="747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E7D9E4-4434-D4B1-8EE3-E037FC44F978}"/>
                </a:ext>
              </a:extLst>
            </p:cNvPr>
            <p:cNvSpPr/>
            <p:nvPr/>
          </p:nvSpPr>
          <p:spPr>
            <a:xfrm>
              <a:off x="0" y="0"/>
              <a:ext cx="12192000" cy="747433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8C0A3FC-075C-F730-E057-74C082EF8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60" y="14646"/>
              <a:ext cx="640080" cy="718139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FA30C6F-44A5-FB31-0141-C5D477CE7049}"/>
              </a:ext>
            </a:extLst>
          </p:cNvPr>
          <p:cNvSpPr/>
          <p:nvPr/>
        </p:nvSpPr>
        <p:spPr>
          <a:xfrm>
            <a:off x="10060" y="6347790"/>
            <a:ext cx="12192000" cy="5303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BA0491D-D63C-47C7-8AD5-5A117412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070" y="6449114"/>
            <a:ext cx="2743200" cy="365125"/>
          </a:xfrm>
        </p:spPr>
        <p:txBody>
          <a:bodyPr/>
          <a:lstStyle/>
          <a:p>
            <a:fld id="{B630394E-6C0C-3847-9ED2-B466E2E401F2}" type="datetime1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10/15/25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D84D83-51C6-38E8-49F2-6C03AF57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5485" y="6449114"/>
            <a:ext cx="2743200" cy="365125"/>
          </a:xfrm>
        </p:spPr>
        <p:txBody>
          <a:bodyPr/>
          <a:lstStyle/>
          <a:p>
            <a:fld id="{FB56AA37-50AF-F349-93FC-3CB01B742E20}" type="slidenum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A3626B-6F9E-4ACE-3E8A-D281B1286BAC}"/>
              </a:ext>
            </a:extLst>
          </p:cNvPr>
          <p:cNvSpPr txBox="1"/>
          <p:nvPr/>
        </p:nvSpPr>
        <p:spPr>
          <a:xfrm>
            <a:off x="1041452" y="119013"/>
            <a:ext cx="10586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Subtask: STO characterization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collage of images of a green light&#10;&#10;AI-generated content may be incorrect.">
            <a:extLst>
              <a:ext uri="{FF2B5EF4-FFF2-40B4-BE49-F238E27FC236}">
                <a16:creationId xmlns:a16="http://schemas.microsoft.com/office/drawing/2014/main" id="{D8C9C374-E3E4-EB40-60FF-94D557728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667"/>
          <a:stretch>
            <a:fillRect/>
          </a:stretch>
        </p:blipFill>
        <p:spPr>
          <a:xfrm flipV="1">
            <a:off x="2059912" y="823065"/>
            <a:ext cx="3752107" cy="2605932"/>
          </a:xfrm>
          <a:prstGeom prst="rect">
            <a:avLst/>
          </a:prstGeom>
        </p:spPr>
      </p:pic>
      <p:pic>
        <p:nvPicPr>
          <p:cNvPr id="5" name="Picture 4" descr="A collage of images of a green light&#10;&#10;AI-generated content may be incorrect.">
            <a:extLst>
              <a:ext uri="{FF2B5EF4-FFF2-40B4-BE49-F238E27FC236}">
                <a16:creationId xmlns:a16="http://schemas.microsoft.com/office/drawing/2014/main" id="{2FC58E59-0943-8766-B31C-36ACFEE3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52" b="50615"/>
          <a:stretch>
            <a:fillRect/>
          </a:stretch>
        </p:blipFill>
        <p:spPr>
          <a:xfrm flipV="1">
            <a:off x="6379983" y="785249"/>
            <a:ext cx="3752107" cy="2605933"/>
          </a:xfrm>
          <a:prstGeom prst="rect">
            <a:avLst/>
          </a:prstGeom>
        </p:spPr>
      </p:pic>
      <p:pic>
        <p:nvPicPr>
          <p:cNvPr id="6" name="Picture 5" descr="A collage of images of a green light&#10;&#10;AI-generated content may be incorrect.">
            <a:extLst>
              <a:ext uri="{FF2B5EF4-FFF2-40B4-BE49-F238E27FC236}">
                <a16:creationId xmlns:a16="http://schemas.microsoft.com/office/drawing/2014/main" id="{0A5D8A0A-A093-2ACC-8283-FC9C8D0ED1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44" b="26022"/>
          <a:stretch>
            <a:fillRect/>
          </a:stretch>
        </p:blipFill>
        <p:spPr>
          <a:xfrm flipV="1">
            <a:off x="2059912" y="3504629"/>
            <a:ext cx="3752107" cy="2605932"/>
          </a:xfrm>
          <a:prstGeom prst="rect">
            <a:avLst/>
          </a:prstGeom>
        </p:spPr>
      </p:pic>
      <p:pic>
        <p:nvPicPr>
          <p:cNvPr id="7" name="Picture 6" descr="A collage of images of a green light&#10;&#10;AI-generated content may be incorrect.">
            <a:extLst>
              <a:ext uri="{FF2B5EF4-FFF2-40B4-BE49-F238E27FC236}">
                <a16:creationId xmlns:a16="http://schemas.microsoft.com/office/drawing/2014/main" id="{C7C4C721-9CDB-6C38-98A8-2239F9E8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564" b="102"/>
          <a:stretch>
            <a:fillRect/>
          </a:stretch>
        </p:blipFill>
        <p:spPr>
          <a:xfrm flipV="1">
            <a:off x="6379983" y="3468919"/>
            <a:ext cx="3752107" cy="26059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036432-F26B-8952-6E0F-1557A41FA210}"/>
                  </a:ext>
                </a:extLst>
              </p:cNvPr>
              <p:cNvSpPr txBox="1"/>
              <p:nvPr/>
            </p:nvSpPr>
            <p:spPr>
              <a:xfrm>
                <a:off x="-82289" y="5515101"/>
                <a:ext cx="2321167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(6×2)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036432-F26B-8952-6E0F-1557A41FA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289" y="5515101"/>
                <a:ext cx="2321167" cy="40197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D60D343-AC63-4CB6-B65E-BDFC2C7A3C54}"/>
              </a:ext>
            </a:extLst>
          </p:cNvPr>
          <p:cNvSpPr txBox="1"/>
          <p:nvPr/>
        </p:nvSpPr>
        <p:spPr>
          <a:xfrm>
            <a:off x="1435010" y="2984417"/>
            <a:ext cx="77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x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F459C4-9E52-0F97-D369-1DAC6A858FC8}"/>
                  </a:ext>
                </a:extLst>
              </p:cNvPr>
              <p:cNvSpPr txBox="1"/>
              <p:nvPr/>
            </p:nvSpPr>
            <p:spPr>
              <a:xfrm>
                <a:off x="10043574" y="2851590"/>
                <a:ext cx="1426831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F459C4-9E52-0F97-D369-1DAC6A858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574" y="2851590"/>
                <a:ext cx="1426831" cy="401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D0AF162-749D-CF10-07C6-3D9E6DDE6506}"/>
              </a:ext>
            </a:extLst>
          </p:cNvPr>
          <p:cNvSpPr txBox="1"/>
          <p:nvPr/>
        </p:nvSpPr>
        <p:spPr>
          <a:xfrm>
            <a:off x="10132088" y="5149421"/>
            <a:ext cx="1905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Temperature Reconstruction (HTR)</a:t>
            </a:r>
          </a:p>
        </p:txBody>
      </p:sp>
    </p:spTree>
    <p:extLst>
      <p:ext uri="{BB962C8B-B14F-4D97-AF65-F5344CB8AC3E}">
        <p14:creationId xmlns:p14="http://schemas.microsoft.com/office/powerpoint/2010/main" val="358297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CC95B92-2666-7D4D-96A7-2A4F38407CEA}"/>
              </a:ext>
            </a:extLst>
          </p:cNvPr>
          <p:cNvGrpSpPr/>
          <p:nvPr/>
        </p:nvGrpSpPr>
        <p:grpSpPr>
          <a:xfrm>
            <a:off x="0" y="0"/>
            <a:ext cx="12192000" cy="747433"/>
            <a:chOff x="0" y="0"/>
            <a:chExt cx="12192000" cy="747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543DA1-4DFD-214F-BEBE-B08B8D8B073A}"/>
                </a:ext>
              </a:extLst>
            </p:cNvPr>
            <p:cNvSpPr/>
            <p:nvPr/>
          </p:nvSpPr>
          <p:spPr>
            <a:xfrm>
              <a:off x="0" y="0"/>
              <a:ext cx="12192000" cy="747433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819513-6DB0-B948-A9D8-4F3D31AA5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60" y="14646"/>
              <a:ext cx="640080" cy="718139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E729A-7E71-D143-AC25-61C80124C548}"/>
              </a:ext>
            </a:extLst>
          </p:cNvPr>
          <p:cNvSpPr/>
          <p:nvPr/>
        </p:nvSpPr>
        <p:spPr>
          <a:xfrm>
            <a:off x="10060" y="6347790"/>
            <a:ext cx="12192000" cy="5303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BA6E509-92EE-9D48-AEF2-C4942F22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070" y="6449114"/>
            <a:ext cx="2743200" cy="365125"/>
          </a:xfrm>
        </p:spPr>
        <p:txBody>
          <a:bodyPr/>
          <a:lstStyle/>
          <a:p>
            <a:fld id="{B630394E-6C0C-3847-9ED2-B466E2E401F2}" type="datetime1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10/15/25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6679DC-8CC1-EC44-8330-0174B876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5485" y="6449114"/>
            <a:ext cx="2743200" cy="365125"/>
          </a:xfrm>
        </p:spPr>
        <p:txBody>
          <a:bodyPr/>
          <a:lstStyle/>
          <a:p>
            <a:fld id="{FB56AA37-50AF-F349-93FC-3CB01B742E20}" type="slidenum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642AF-9AAD-C946-BA0C-2B599D8523BB}"/>
              </a:ext>
            </a:extLst>
          </p:cNvPr>
          <p:cNvSpPr txBox="1"/>
          <p:nvPr/>
        </p:nvSpPr>
        <p:spPr>
          <a:xfrm>
            <a:off x="1041452" y="119013"/>
            <a:ext cx="10586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Subtask: </a:t>
            </a:r>
            <a:r>
              <a:rPr lang="en-US" sz="2800" dirty="0" err="1">
                <a:solidFill>
                  <a:schemeClr val="bg1"/>
                </a:solidFill>
              </a:rPr>
              <a:t>FeSe</a:t>
            </a:r>
            <a:r>
              <a:rPr lang="en-US" sz="2800" dirty="0">
                <a:solidFill>
                  <a:schemeClr val="bg1"/>
                </a:solidFill>
              </a:rPr>
              <a:t> quality scoring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CD976-8E2E-A14B-8F59-1A586A3625CB}"/>
              </a:ext>
            </a:extLst>
          </p:cNvPr>
          <p:cNvSpPr txBox="1"/>
          <p:nvPr/>
        </p:nvSpPr>
        <p:spPr>
          <a:xfrm>
            <a:off x="43070" y="988725"/>
            <a:ext cx="941384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AI-guided monolayer </a:t>
            </a:r>
            <a:r>
              <a:rPr lang="en-US" b="1" dirty="0" err="1"/>
              <a:t>FeSe</a:t>
            </a:r>
            <a:r>
              <a:rPr lang="en-US" b="1" dirty="0"/>
              <a:t>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Collection</a:t>
            </a:r>
            <a:r>
              <a:rPr lang="en-US" dirty="0"/>
              <a:t>: Grow monolayer </a:t>
            </a:r>
            <a:r>
              <a:rPr lang="en-US" dirty="0" err="1"/>
              <a:t>FeSe</a:t>
            </a:r>
            <a:r>
              <a:rPr lang="en-US" dirty="0"/>
              <a:t> on STO (001) substrates with different reconstructions and record growth parameters (source temperatures, substrate temperatures, pressure, growth time, post growth annealing time,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Training</a:t>
            </a:r>
            <a:r>
              <a:rPr lang="en-US" dirty="0"/>
              <a:t>: Use machine learning to correlate growth conditions and substrate reconstruction with film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Potential metrics for film quality: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Resulting </a:t>
            </a:r>
            <a:r>
              <a:rPr lang="en-US" b="1" dirty="0" err="1"/>
              <a:t>FeSe</a:t>
            </a:r>
            <a:r>
              <a:rPr lang="en-US" b="1" dirty="0"/>
              <a:t> RHEED 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Superconducting Tc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ARPES MDC linewidth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Surface quality/coverage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Interfacial phonon replica band (ARPES)</a:t>
            </a:r>
            <a:endParaRPr lang="en-US" dirty="0"/>
          </a:p>
          <a:p>
            <a:pPr marL="342900" indent="-342900">
              <a:buAutoNum type="arabicPeriod"/>
            </a:pPr>
            <a:endParaRPr lang="en-US" b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78C35-8D02-F940-8992-BBBA05112C1D}"/>
              </a:ext>
            </a:extLst>
          </p:cNvPr>
          <p:cNvSpPr txBox="1"/>
          <p:nvPr/>
        </p:nvSpPr>
        <p:spPr>
          <a:xfrm>
            <a:off x="43069" y="4414036"/>
            <a:ext cx="11402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Inference Output</a:t>
            </a:r>
            <a:r>
              <a:rPr lang="en-US" dirty="0"/>
              <a:t>: the trained model will recommend substrate treatment + growth recipe. Potentially also enable closed-loop growth optimization where AI refines recipes over time using feedback from each growth.</a:t>
            </a:r>
          </a:p>
        </p:txBody>
      </p:sp>
    </p:spTree>
    <p:extLst>
      <p:ext uri="{BB962C8B-B14F-4D97-AF65-F5344CB8AC3E}">
        <p14:creationId xmlns:p14="http://schemas.microsoft.com/office/powerpoint/2010/main" val="133482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3E9C-3CAC-B800-A1DE-8270B882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0767F16-0E8F-B952-AA4B-4DA003B64AB8}"/>
              </a:ext>
            </a:extLst>
          </p:cNvPr>
          <p:cNvGrpSpPr/>
          <p:nvPr/>
        </p:nvGrpSpPr>
        <p:grpSpPr>
          <a:xfrm>
            <a:off x="0" y="0"/>
            <a:ext cx="12192000" cy="747433"/>
            <a:chOff x="0" y="0"/>
            <a:chExt cx="12192000" cy="747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0095B9-795F-3038-E5FB-5AF922C92DD3}"/>
                </a:ext>
              </a:extLst>
            </p:cNvPr>
            <p:cNvSpPr/>
            <p:nvPr/>
          </p:nvSpPr>
          <p:spPr>
            <a:xfrm>
              <a:off x="0" y="0"/>
              <a:ext cx="12192000" cy="747433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033ACA-6387-7104-7B54-FEA4C664C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60" y="14646"/>
              <a:ext cx="640080" cy="718139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4493EE3-2B54-851D-EBF2-740B851D92F7}"/>
              </a:ext>
            </a:extLst>
          </p:cNvPr>
          <p:cNvSpPr/>
          <p:nvPr/>
        </p:nvSpPr>
        <p:spPr>
          <a:xfrm>
            <a:off x="10060" y="6347790"/>
            <a:ext cx="12192000" cy="5303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FDD9D60-9870-3A74-ECFD-B1A6AA30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070" y="6449114"/>
            <a:ext cx="2743200" cy="365125"/>
          </a:xfrm>
        </p:spPr>
        <p:txBody>
          <a:bodyPr/>
          <a:lstStyle/>
          <a:p>
            <a:fld id="{B630394E-6C0C-3847-9ED2-B466E2E401F2}" type="datetime1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10/15/25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69472E-E1E5-0F27-D906-3B395B46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5485" y="6449114"/>
            <a:ext cx="2743200" cy="365125"/>
          </a:xfrm>
        </p:spPr>
        <p:txBody>
          <a:bodyPr/>
          <a:lstStyle/>
          <a:p>
            <a:fld id="{FB56AA37-50AF-F349-93FC-3CB01B742E20}" type="slidenum">
              <a:rPr lang="en-US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A0E597-9C8E-F373-0A1D-1F1404C6B54E}"/>
              </a:ext>
            </a:extLst>
          </p:cNvPr>
          <p:cNvSpPr txBox="1"/>
          <p:nvPr/>
        </p:nvSpPr>
        <p:spPr>
          <a:xfrm>
            <a:off x="1041452" y="119013"/>
            <a:ext cx="10586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Subtask: </a:t>
            </a:r>
            <a:r>
              <a:rPr lang="en-US" sz="2800" dirty="0" err="1">
                <a:solidFill>
                  <a:schemeClr val="bg1"/>
                </a:solidFill>
              </a:rPr>
              <a:t>FeSe</a:t>
            </a:r>
            <a:r>
              <a:rPr lang="en-US" sz="2800" dirty="0">
                <a:solidFill>
                  <a:schemeClr val="bg1"/>
                </a:solidFill>
              </a:rPr>
              <a:t> quality scoring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FA42B-92F3-3D8F-CA81-AF2695C47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844" y="793859"/>
            <a:ext cx="6317754" cy="542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7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361</Words>
  <Application>Microsoft Macintosh PowerPoint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Helvetica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Haoran Lin</dc:creator>
  <cp:lastModifiedBy>Yang Meng</cp:lastModifiedBy>
  <cp:revision>13</cp:revision>
  <dcterms:created xsi:type="dcterms:W3CDTF">2025-06-24T15:38:00Z</dcterms:created>
  <dcterms:modified xsi:type="dcterms:W3CDTF">2025-10-16T12:50:12Z</dcterms:modified>
</cp:coreProperties>
</file>